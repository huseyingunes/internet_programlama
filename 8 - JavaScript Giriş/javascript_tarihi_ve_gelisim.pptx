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1828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7DF1E">
                    <a:alpha val="15000"/>
                  </a:srgbClr>
                </a:solidFill>
              </a:rPr>
              <a:t>JS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7DF1E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Tarih ve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Gelişim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828800" cy="457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C3F7"/>
                </a:solidFill>
              </a:rPr>
              <a:t>1995'ten Günümüze: Bir Dilin Efsanevi Yolculuğu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İnternet Programlama | Bilgisayar Mühendisliği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7DF1E"/>
                </a:solidFill>
              </a:rPr>
              <a:t>DERS PLANI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73152" cy="155448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Doğuş (1995)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Brendan Eich ve 10 günlük mucize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73152" cy="1554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10712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Tarayıcı Savaşları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IE vs Netscape, kaos dönemi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73152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Standardizasyon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6792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ECMAScript, W3C, standartların önemi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73152" cy="15544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Karanlık &amp; Rönesans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Flash, AJAX ve Google Maps devrimi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71800"/>
            <a:ext cx="73152" cy="1554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10712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Modern Ekosistem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10712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Node.js, ES6+, Framework'ler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743200" cy="15544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71800"/>
            <a:ext cx="73152" cy="1554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63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36792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Günümüz &amp; Gelecek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36792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TypeScript, WebAssembly, Deno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BAĞLAM: 1990'LARDA WEB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İlk Web Nasıldı?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Web sayfaları tamamen statikti — sadece 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Kullanıcı etkileşimi yoktu, her şey sunucu taraflıydı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Form göndermek için sayfanın yenilenmesi gerekiyordu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Tim Berners-Lee'nin 1991'de icat ettiği web henüz çok gençti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Tarayıcılar sadece metin ve görüntü gösteriyordu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İnteraktiflik için Common Gateway Interface (CGI) kullanılıyordu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143000"/>
            <a:ext cx="3200400" cy="1005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143000"/>
            <a:ext cx="73152" cy="100584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188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DF1E"/>
                </a:solidFill>
              </a:rPr>
              <a:t>1991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673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Web'in Doğuşu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377440"/>
            <a:ext cx="3200400" cy="1005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2377440"/>
            <a:ext cx="73152" cy="100584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DF1E"/>
                </a:solidFill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2907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Dinamik İçerik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611880"/>
            <a:ext cx="3200400" cy="1005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3611880"/>
            <a:ext cx="73152" cy="100584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DF1E"/>
                </a:solidFill>
              </a:rPr>
              <a:t>CGI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Tek Etkileşim Yolu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35"/>
                </a:solidFill>
              </a:rPr>
              <a:t>Kullanıcılar, doldurdukları formdaki bir hatayı ancak sunucudan yanıt geldikten sonra öğrenebiliyordu!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BRENDAN EICH VE NETSCAPE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7DF1E"/>
                </a:solidFill>
              </a:rPr>
              <a:t>Brendan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7DF1E"/>
                </a:solidFill>
              </a:rPr>
              <a:t>Eich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JavaScript'in Yaratıcısı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</a:rPr>
              <a:t>1995 · Netscape Communications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6128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⚡  Netscape ona bir görev verdi: tarayıcıya bir betik dili ekle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847088"/>
            <a:ext cx="4023360" cy="6400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91109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📅  Süre: yalnızca 10 gün — Mayıs 1995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596896"/>
            <a:ext cx="4023360" cy="6400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66090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🎭  Önce Mocha, sonra LiveScript, son olarak JavaScript adını aldı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346704"/>
            <a:ext cx="4023360" cy="6400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41071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💡  Java'nın popülaritesinden yararlanmak için 'JavaScript' ismi seçildi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4096512"/>
            <a:ext cx="4023360" cy="6400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416052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🔗  Java ile JavaScript'in hiçbir akrabalığı yoktur!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10 GÜNDE BİR PROGRAMLAMA DİLİ!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6B35">
                    <a:alpha val="80000"/>
                  </a:srgbClr>
                </a:solidFill>
              </a:rPr>
              <a:t>10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1000" kern="0" dirty="0">
                <a:solidFill>
                  <a:srgbClr val="FF6B35"/>
                </a:solidFill>
              </a:rPr>
              <a:t>GÜN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530352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109728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143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C dilinden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481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Temel sözdizimi ve kontrol akışı geldi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057400"/>
            <a:ext cx="530352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05740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Java'dan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441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Sözdizimsel benzerlik (pazarlama amaçlı)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017520"/>
            <a:ext cx="530352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301752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Self'ten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3401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Prototip tabanlı nesne yönelimi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3977640"/>
            <a:ext cx="530352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397764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Scheme'den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4361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Fonksiyonel programlama özellikleri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8899"/>
                </a:solidFill>
              </a:rPr>
              <a:t>"Aceleyle yazıldı ama çok zeki tasarım kararları içeriyordu." — Douglas Crockford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İLK JAVASCRIPT KODU — 1995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3832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language="JavaScript"&gt;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hesapla()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sayi = 42;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alert("Merhaba, JS!");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document.write(sayi);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200400" cy="64008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143000"/>
            <a:ext cx="54864" cy="64008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8" name="Text 6"/>
          <p:cNvSpPr/>
          <p:nvPr/>
        </p:nvSpPr>
        <p:spPr>
          <a:xfrm>
            <a:off x="5833872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alert() — ilk JS fonksiyonu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1965960"/>
            <a:ext cx="3200400" cy="64008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1965960"/>
            <a:ext cx="54864" cy="6400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5833872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document.write() — sayfaya içerik ekleme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788920"/>
            <a:ext cx="3200400" cy="64008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2788920"/>
            <a:ext cx="54864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833872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var — tek değişken tipi (1995'te)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611880"/>
            <a:ext cx="3200400" cy="64008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3611880"/>
            <a:ext cx="54864" cy="6400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5833872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</a:rPr>
              <a:t>&lt;script language=""&gt; — eski syntax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8899"/>
                </a:solidFill>
              </a:rPr>
              <a:t>Netscape Navigator 2.0 ile dağıtılan ilk JavaScript sürümü bu yapıyı kullanıyordu.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14350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7DF1E"/>
                </a:solidFill>
              </a:rPr>
              <a:t>BÖLÜM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</a:rPr>
              <a:t>Tarayıcı</a:t>
            </a:r>
            <a:endParaRPr lang="en-US" sz="6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</a:rPr>
              <a:t>Savaşları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1995 — 2000 · Netscape vs Internet Explorer · Kaos Dönemi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35"/>
                </a:solidFill>
              </a:rPr>
              <a:t>NETSCAPE vs INTERNET EXPLORER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5661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502920"/>
          </a:xfrm>
          <a:prstGeom prst="rect">
            <a:avLst/>
          </a:prstGeom>
          <a:solidFill>
            <a:srgbClr val="005F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🦁  NETSCAPE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JavaScript'i icat etti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Navigator 2.0 (1995)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Web'in öncüsü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Sonunda kaybetti (2002)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Mozilla Firefox'a dönüştü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</a:rPr>
              <a:t>VS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3840480" cy="35661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97280"/>
            <a:ext cx="3840480" cy="502920"/>
          </a:xfrm>
          <a:prstGeom prst="rect">
            <a:avLst/>
          </a:prstGeom>
          <a:solidFill>
            <a:srgbClr val="1C6CB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🔷  INTERNET EXPLORER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JScript adıyla kopyaladı (1996)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IE 3.0 — rakip doğdu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Windows ile ücretsiz dağıttı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Pazar payı %95'e ulaştı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AF6"/>
                </a:solidFill>
              </a:rPr>
              <a:t>VBScript de destekledi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KAOS: UYUMSUZLUK PROBLEMİ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6"/>
                </a:solidFill>
              </a:rPr>
              <a:t>Geliştiricilerin Kabusu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😱  DOM API Farkları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Aynı kod IE ve Netscape'te farklı çalışıyordu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🔀  Event Model Çatışması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Her tarayıcının farklı olay sistemi vardı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920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📝  CSS Desteği Yok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Stiller JS ile manuel manipüle ediliyordu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⚠️  "Works in IE Only"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Siteler belirli bir tarayıcı için yazılıyordu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🐛  Memory Leak'ler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IE'nin closure hatası dev bir sorundu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2743200" cy="11887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😤  document.all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IE'ye özgü, standart dışı API'lar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ECMASCRIPT: STANDARDIN DOĞUŞU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Neden Standart Gerekti?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6"/>
                </a:solidFill>
              </a:rPr>
              <a:t>Netscape, JavaScript'i ECMA International'a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6"/>
                </a:solidFill>
              </a:rPr>
              <a:t>standardize etmesi için sundu. Böylece hiçbir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6"/>
                </a:solidFill>
              </a:rPr>
              <a:t>şirketin dili tek başına kontrol edemeyeceği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6"/>
                </a:solidFill>
              </a:rPr>
              <a:t>bir yapı oluşturuldu.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TC39 Komitesi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Tarayıcı üreticileri, akademisyenler ve endüstri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temsilcilerinden oluşan komite, bugün hala JS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standartlarını belirliyor.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73152" cy="6217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521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152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1997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İlk resmi standart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847088"/>
            <a:ext cx="384048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847088"/>
            <a:ext cx="73152" cy="6217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9019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1998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167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ISO/IEC uyumu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596896"/>
            <a:ext cx="384048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96896"/>
            <a:ext cx="73152" cy="6217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1999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Regex, try/catch eklendi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346704"/>
            <a:ext cx="3840480" cy="621792"/>
          </a:xfrm>
          <a:prstGeom prst="rect">
            <a:avLst/>
          </a:prstGeom>
          <a:solidFill>
            <a:srgbClr val="3A101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346704"/>
            <a:ext cx="73152" cy="62179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4015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63"/>
                </a:solidFill>
              </a:rPr>
              <a:t>ES4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3401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❌ İptal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666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Çok radikal, kabul görmedi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4096512"/>
            <a:ext cx="384048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4096512"/>
            <a:ext cx="73152" cy="6217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151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41513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2009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4416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Strict mode, JSON desteği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91E63"/>
                </a:solidFill>
              </a:rPr>
              <a:t>BÖLÜM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Karanlık</a:t>
            </a:r>
            <a:endParaRPr lang="en-US" sz="7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Dönem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2000 — 2004 · Flash'ın gölgesi · "JS kötü bir dildir" algısı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1E63"/>
                </a:solidFill>
              </a:rPr>
              <a:t>KARANLIK DÖNEM: 2000-2004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</a:rPr>
              <a:t>🎯  Flash Hakimiyeti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Macromedia Flash, zengin içerik için tercih edildi. JS 'dağınık' bir dil olarak görülüyordu.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777240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21408"/>
            <a:ext cx="73152" cy="7772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</a:rPr>
              <a:t>💀  Kötü İtibar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1284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Pop-up reklamlar, can sıkıcı alert'ler, güvensiz kodlar JS'i kötü bir üne kavuşturdu.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8229600" cy="777240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54096"/>
            <a:ext cx="73152" cy="7772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</a:rPr>
              <a:t>⛔  Güvenlik Sorunları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14553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XSS saldırıları, cross-site scripting açıkları o dönemde yaygınlaştı.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229600" cy="777240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86784"/>
            <a:ext cx="73152" cy="7772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325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</a:rPr>
              <a:t>🔕  Tarayıcı Desteği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0782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JS kapatmak standart bir güvenlik önlemi haline geldi, siteler bunu tolere edecek şekilde yapıldı.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8899"/>
                </a:solidFill>
              </a:rPr>
              <a:t>Peki JS neden hayatta kaldı?  →  Çünkü başka seçenek yoktu. Tarayıcılar onu destekliyordu.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4CAF50"/>
                </a:solidFill>
              </a:rPr>
              <a:t>BÖLÜM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Rönesans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&amp; AJAX Devrimi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2005 — 2009 · Gmail, Google Maps · Webin yeniden doğuşu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AJAX: WEBİN OYUN DEĞİŞTİRİCİSİ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AJAX Nedir?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C3F7"/>
                </a:solidFill>
              </a:rPr>
              <a:t>Asynchronous JavaScript and XML — Jesse James Garrett, 2005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840480" cy="25603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3840480" cy="45720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AJAX ÖNCESİ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Form gönder → Sayfa yenile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Hep tam sayfa yükleme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Yavaş, verimsiz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Kullanıcı deneyimi kötü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057400"/>
            <a:ext cx="3840480" cy="2560320"/>
          </a:xfrm>
          <a:prstGeom prst="rect">
            <a:avLst/>
          </a:prstGeom>
          <a:solidFill>
            <a:srgbClr val="0A1A0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057400"/>
            <a:ext cx="38404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AJAX SONRASI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606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Arka planda veri alışverişi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Sayfa yenilenmeden güncelleme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Gmail, Google Maps mümkün oldu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Modern SPA'ların temeli atıldı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35"/>
                </a:solidFill>
              </a:rPr>
              <a:t>XMLHttpRequest nesnesi aslında Microsoft'un IE5 için geliştirdiği bir özellikti!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GOOGLE'IN DEVRİMCİ ÜRÜNLERI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49808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2004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143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Gmail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1704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Web uygulamalarının masaüstü ile yarışabileceğini kanıtladı. AJAX ile gerçek zamanlı e-posta.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749808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73152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2005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057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Maps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0848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Sayfa yenilemeden harita sürükleme. JavaScript'in gücünü dünyaya gösterdi.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749808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73152" cy="7498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2006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Docs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29992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Tam bir ofis uygulaması tarayıcıda! Kurumsal dünya web'e geçmeye başladı.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73152" cy="74980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2008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Chrome + V8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39136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Yeni JS motoru V8, hızı 10 kat artırdı. Performans artık sorun değildi.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8899"/>
                </a:solidFill>
              </a:rPr>
              <a:t>Bu ürünler olmadan JavaScript bugünkü konumuna ulaşamazdı.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</a:rPr>
              <a:t>JQUERY: "WRITE LESS, DO MORE"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2006 · John Resig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AF6"/>
                </a:solidFill>
              </a:rPr>
              <a:t>jQuery, tarayıcılar arası tüm uyumsuzlukları tek bir kütüphane ile çözdü. Geliştiriciler artık "Bu IE'de çalışır mı?" diye düşünmek zorunda kalmıyordu.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4206240" cy="19202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260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jQuery 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$(".buton").click(function()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$(".kutu").fadeIn(300);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$.ajax({url: "/veri"});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521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2006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İlk Sürüm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057400"/>
            <a:ext cx="384048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05740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1122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%77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Web Sitelerinde Kullanım (2015)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384048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301752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072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#1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En Popüler JS Kütüphanesi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977640"/>
            <a:ext cx="3840480" cy="7772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97764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40325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MIT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20640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Lisans — Ücretsiz &amp; Açık Kaynak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4CAF50"/>
                </a:solidFill>
              </a:rPr>
              <a:t>BÖLÜM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Node.js ve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Modern Ekosistem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2009 — 2015 · Sunucu taraflı JS · npm · Framework patlaması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AF50"/>
                </a:solidFill>
              </a:rPr>
              <a:t>NODE.JS: JS SUNUCUYA TAŞINDI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35661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Ryan Dahl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</a:rPr>
              <a:t>2009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Chrome'un V8 motoru üzerine inşa edilmiş,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event-driven, non-blocking I/O mimarisiyle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AF6"/>
                </a:solidFill>
              </a:rPr>
              <a:t>sunucu taraflı JavaScript çalıştırma ortamı.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Aynı dil front-end + back-end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V8 motoru = yüksek performans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npm — dünyanın en büyük paket deposu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AF6"/>
                </a:solidFill>
              </a:rPr>
              <a:t>Real-time uygulamalar için ideal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1371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143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CAF50"/>
                </a:solidFill>
              </a:rPr>
              <a:t>2M+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npm Paketi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651760"/>
            <a:ext cx="1783080" cy="10972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DF1E"/>
                </a:solidFill>
              </a:rPr>
              <a:t>2009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3246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Doğuş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651760"/>
            <a:ext cx="1920240" cy="109728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17B+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944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Haftalık İndirme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8899"/>
                </a:solidFill>
              </a:rPr>
              <a:t>"Bir full-stack geliştiricinin artık iki dil öğrenmesine gerek yok." — Node.js topluluğu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ES6 (ES2015): BÜYÜK SIÇRAMA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C3F7"/>
                </a:solidFill>
              </a:rPr>
              <a:t>6 Yıllık Geliştirme → 2015'te Yayınlanan Devrimci Güncelleme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let / const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Blok kapsamlı değişkenler, var'a modern alternatif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x = 42;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459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459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Arrow 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Kısa fonksiyon sözdizimi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688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 = x =&gt; x * 2;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6459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6459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Template Literals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36792" y="2084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Şablon dizeler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5054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`Merhaba ${isim}!`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461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Classes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OOP için sınıf sözdizimi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4105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Hayvan { ... 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2461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2461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1" name="Text 29"/>
          <p:cNvSpPr/>
          <p:nvPr/>
        </p:nvSpPr>
        <p:spPr>
          <a:xfrm>
            <a:off x="3410712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Modules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10712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import/export ile modüler kod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40690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4105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f } from './m';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246120"/>
            <a:ext cx="2743200" cy="14173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246120"/>
            <a:ext cx="73152" cy="14173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7" name="Text 35"/>
          <p:cNvSpPr/>
          <p:nvPr/>
        </p:nvSpPr>
        <p:spPr>
          <a:xfrm>
            <a:off x="6336792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Promises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36792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6"/>
                </a:solidFill>
              </a:rPr>
              <a:t>Asenkron kod yönetimi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069080"/>
            <a:ext cx="2487168" cy="47548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0" name="Text 38"/>
          <p:cNvSpPr/>
          <p:nvPr/>
        </p:nvSpPr>
        <p:spPr>
          <a:xfrm>
            <a:off x="6373368" y="4105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fetch(url).then(r =&gt; r)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ES2015'TEN SONRA: YILLIK GÜNCELLEME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73152" cy="10789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ES2015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let, const, class, arrow fn, template literal, module, promise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73152" cy="10789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ES2016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1536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Array.includes(), üs alma operatörü (**)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97280"/>
            <a:ext cx="73152" cy="10789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ES2017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36792" y="15361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async/await, Object.values(), Object.entries()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59152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59152"/>
            <a:ext cx="73152" cy="10789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ES2018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" y="2798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Rest/Spread (objeler), Promise.finally(), async iterasyon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359152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359152"/>
            <a:ext cx="73152" cy="107899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</a:rPr>
              <a:t>ES2019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10712" y="2798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Array.flat(), Object.fromEntries(), Optional catch binding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359152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359152"/>
            <a:ext cx="73152" cy="1078992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1E63"/>
                </a:solidFill>
              </a:rPr>
              <a:t>ES2020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36792" y="2798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Optional chaining ?., Nullish coalescing ??, BigInt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621024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21024"/>
            <a:ext cx="73152" cy="107899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ES2021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" y="4059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String.replaceAll(), Promise.any(), Logical assignment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621024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621024"/>
            <a:ext cx="73152" cy="10789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3410712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ES2022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10712" y="4059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Top-level await, Class fields, Array.at()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3621024"/>
            <a:ext cx="2743200" cy="10789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621024"/>
            <a:ext cx="73152" cy="10789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ES2023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36792" y="4059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Array.findLast(), Hashbang grammar, Change Array by copy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DF1E"/>
                </a:solidFill>
              </a:rPr>
              <a:t>FRAMEWORK SAVAŞLARI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7947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486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Angular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2010 / 2016 · Google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✅ Avantajlar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Full-stack framework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TypeScript ile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Kurumsal tercih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⚠️ Dezavantajlar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Dik öğrenme eğrisi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Ağır yapı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743200" cy="37947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97280"/>
            <a:ext cx="274320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2013 · Meta (Facebook)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✅ Avantajlar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Virtual DOM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Büyük ekosistem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En popüler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⚠️ Dezavantajlar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566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Sadece UI kütüphanesi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JSX farklı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743200" cy="379476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97280"/>
            <a:ext cx="274320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Vue.js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2014 · Evan You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✅ Avantajlar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Kolay öğrenme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Esnek yapı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İyi dokümantasyon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⚠️ Dezavantajlar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Küçük şirket arkası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Enterprise daha az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8899"/>
                </a:solidFill>
              </a:rPr>
              <a:t>Svelte (2016), SolidJS (2021) gibi yeni oyuncular da sahneye girdi!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7DF1E"/>
                </a:solidFill>
              </a:rPr>
              <a:t>BÖLÜM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FFFFFF"/>
                </a:solidFill>
              </a:rPr>
              <a:t>Günümüz</a:t>
            </a:r>
            <a:endParaRPr lang="en-US" sz="6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FFFFFF"/>
                </a:solidFill>
              </a:rPr>
              <a:t>&amp; Gelecek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</a:rPr>
              <a:t>TypeScript · WebAssembly · Deno · Bun · Edge Computing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4A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B3FF"/>
                </a:solidFill>
              </a:rPr>
              <a:t>TYPESCRIPT: JS'İN BÜYÜK KARDEŞİ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Microsoft, 2012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EAF6"/>
                </a:solidFill>
              </a:rPr>
              <a:t>TypeScript, JavaScript'in üzerine statik tip sistemi ekleyen bir süper küme dilidir. Her geçerli JS kodu aynı zamanda geçerli TypeScript kodudur.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4114800" cy="19202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8346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topla(a,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topla(a: number,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b: number): number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7764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88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🔍  Derleme zamanında hata tespiti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47088"/>
            <a:ext cx="397764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9385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💡  IDE desteği ve otomatik tamamlama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596896"/>
            <a:ext cx="397764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6883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📖  Büyük ekiplerde okunabilirlik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346704"/>
            <a:ext cx="397764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438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🏢  Kurumsal projelerin tercihi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4096512"/>
            <a:ext cx="3977640" cy="62179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4187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</a:rPr>
              <a:t>📈  Stack Overflow anketinde %5 artış/yıl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YENİ ÇALIŞMA ORTAMLARI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4DFF"/>
                </a:solidFill>
              </a:rPr>
              <a:t>WebAssembly  ·  2017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C/C++/Rust gibi dilleri tarayıcıda çalıştırın. JS ile birlikte yüksek performanslı uygulamalar.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📌 Oyunlar, video düzenleme, AutoCAD Web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Deno  ·  2018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Ryan Dahl'ın 'Node.js'i yeniden yapardım' diyerek yarattığı güvenli JS/TS çalışma ortamı.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267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📌 TypeScript built-in, izin sistemi, modern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73152" cy="169164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</a:rPr>
              <a:t>Bun  ·  2022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Zig diliyle yazılmış ultra hızlı JS çalışma ortamı. npm ile tam uyumlu.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📌 Node.js'ten 3-5x hızlı, bundler + test runner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73152" cy="1691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</a:rPr>
              <a:t>Edge Runtime  ·  2021+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4930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Cloudflare Workers, Vercel Edge: JS'i kullanıcıya en yakın sunucuda çalıştır.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📌 Düşük gecikme, global ölçekleme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6B35"/>
                </a:solidFill>
              </a:rPr>
              <a:t>JavaScript artık sadece tarayıcıda değil; sunucu, edge, IoT, masaüstü, mobil her yerde çalışıyor.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JAVASCRIPT EKOSİSTEMİ — BUGÜN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1371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12. yıl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Stack Overflow'da En Popüler Dil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2011680" cy="1371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97280"/>
            <a:ext cx="201168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</a:rPr>
              <a:t>98.8%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Web Sitelerinde JS Kullanımı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2011680" cy="1371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97280"/>
            <a:ext cx="201168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AF50"/>
                </a:solidFill>
              </a:rPr>
              <a:t>2M+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npm Paketi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2011680" cy="1371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20116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234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17B+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Haftalık npm İndirme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Ekosistem Haritası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200400"/>
            <a:ext cx="64008" cy="7315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React, Vue, Angular, Svelte, Solid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3200400"/>
            <a:ext cx="64008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Backend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Node.js, Deno, Bun, Express, Fastify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3200400"/>
            <a:ext cx="64008" cy="731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Build Araçları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Webpack, Vite, Rollup, esbuild, Parcel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041648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4041648"/>
            <a:ext cx="64008" cy="7315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Test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407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Jest, Vitest, Playwright, Cypress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46120" y="4041648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4041648"/>
            <a:ext cx="64008" cy="7315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63"/>
                </a:solidFill>
              </a:rPr>
              <a:t>Mobil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29000" y="4407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React Native, Expo, Ionic, Capacitor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4041648"/>
            <a:ext cx="2743200" cy="7315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2200" y="4041648"/>
            <a:ext cx="64008" cy="7315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</a:rPr>
              <a:t>Masaüstü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407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Electron, Tauri, NW.js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1E63"/>
                </a:solidFill>
              </a:rPr>
              <a:t>JS'İN ÜNLÜ TASARIM HATALARI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35"/>
                </a:solidFill>
              </a:rPr>
              <a:t>"The Good Parts" — Douglas Crockford (2008)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45920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82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null === "object"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null, nesne sanılıyor — tarihsel bir bug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645920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682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+ [] === ""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305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Dizi + Dizi = boş string (!)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15768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15768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761488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98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+ {} === "[object Object]"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Tip zorlaması (coercion) beklenmedik sonuç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15768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715768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761488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798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+ 0.2 !== 0.3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IEEE 754 float sorunu — tüm dillerde var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31336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3877056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913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=== NaN → false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3616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Kendisiyle eşit olmayan tek değer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831336"/>
            <a:ext cx="4114800" cy="96012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31336"/>
            <a:ext cx="64008" cy="9601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2" name="Shape 30"/>
          <p:cNvSpPr/>
          <p:nvPr/>
        </p:nvSpPr>
        <p:spPr>
          <a:xfrm>
            <a:off x="4892040" y="3877056"/>
            <a:ext cx="38404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3913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NaN === "number"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3616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Not a Number, sayı tipi (!)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8899"/>
                </a:solidFill>
              </a:rPr>
              <a:t>Bu quirks'lerin çoğu 10 günde yazılmış olmanın bedeli — ama artık düzeltilemez, milyonlarca web sitesi bunlara bağımlı!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50"/>
                </a:solidFill>
              </a:rPr>
              <a:t>NEDEN HER YERDE JAVASCRIPT?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Evrensel Erişim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Tarayıcı olan her cihazda çalışır. Kurulum gerekmez, eklenti gerekmez.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Event-Driven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556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Asenkron, non-blocking yapısı ile yüksek eşzamanlılık sağlar.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1280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Full-Stack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7556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Aynı dil ile hem front-end hem back-end geliştirebilirsiniz.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Zengin Ekosistem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npm ile milyonlarca hazır paket, çözülmüş problem nadiren var.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8620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Hız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5387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V8, SpiderMonkey gibi motorlar ile JIT derleme sayesinde çok hızlı.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4320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88036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1228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Esnek Paradigma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53872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OOP, fonksiyonel, prosedürel — istediğiniz paradigmada yazın.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KRONOLOJİK ZAMAN ÇİZELGESİ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651760"/>
            <a:ext cx="201168" cy="20116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27432" cy="82296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-4572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</a:rPr>
              <a:t>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</a:rPr>
              <a:t>Doğdu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-4572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1995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2852928"/>
            <a:ext cx="27432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1996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</a:rPr>
              <a:t>JScript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</a:rPr>
              <a:t>IE3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651760"/>
            <a:ext cx="201168" cy="20116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1920240"/>
            <a:ext cx="27432" cy="8229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ES1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Standart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1997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0" y="265176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2852928"/>
            <a:ext cx="2743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1999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97480" y="3931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ES3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Regex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651760"/>
            <a:ext cx="201168" cy="20116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920240"/>
            <a:ext cx="27432" cy="8229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4DFF"/>
                </a:solidFill>
              </a:rPr>
              <a:t>AJAX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4DFF"/>
                </a:solidFill>
              </a:rPr>
              <a:t>Gmail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862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2005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2651760"/>
            <a:ext cx="201168" cy="20116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2852928"/>
            <a:ext cx="27432" cy="82296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2006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09160" y="3931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1E63"/>
                </a:solidFill>
              </a:rPr>
              <a:t>jQuery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91E63"/>
                </a:solidFill>
              </a:rPr>
              <a:t>1.0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65176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1920240"/>
            <a:ext cx="2743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Node.js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CAF50"/>
                </a:solidFill>
              </a:rPr>
              <a:t>ES5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2009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9440" y="2651760"/>
            <a:ext cx="201168" cy="20116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0" y="2852928"/>
            <a:ext cx="27432" cy="82296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2015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37960" y="39319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</a:rPr>
              <a:t>ES6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7DF1E"/>
                </a:solidFill>
              </a:rPr>
              <a:t>Büyük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0" y="2651760"/>
            <a:ext cx="201168" cy="20116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8" name="Shape 36"/>
          <p:cNvSpPr/>
          <p:nvPr/>
        </p:nvSpPr>
        <p:spPr>
          <a:xfrm>
            <a:off x="8046720" y="1920240"/>
            <a:ext cx="27432" cy="8229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TS/Wasm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</a:rPr>
              <a:t>Deno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438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2020+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8899"/>
                </a:solidFill>
              </a:rPr>
              <a:t>30 yılda sıradan bir betik dilinden dünyanın en yaygın programlama diline dönüşüm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JS MOTORU NASIL ÇALIŞIR?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54480" cy="3291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155448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7DF1E">
                    <a:alpha val="70000"/>
                  </a:srgbClr>
                </a:solidFill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47472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Kaynak Kod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65176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6"/>
                </a:solidFill>
              </a:rPr>
              <a:t>JavaScript dosyası okunur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DF1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84248" y="1234440"/>
            <a:ext cx="1554480" cy="3291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1234440"/>
            <a:ext cx="155448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029968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B35">
                    <a:alpha val="70000"/>
                  </a:srgbClr>
                </a:solidFill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2057400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Parser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65176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6"/>
                </a:solidFill>
              </a:rPr>
              <a:t>Token'lara ayrılır, AST oluşturulur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94176" y="1234440"/>
            <a:ext cx="1554480" cy="3291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94176" y="123444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C3F7">
                    <a:alpha val="70000"/>
                  </a:srgbClr>
                </a:solidFill>
              </a:rPr>
              <a:t>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3767328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Interpreter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67328" y="265176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6"/>
                </a:solidFill>
              </a:rPr>
              <a:t>Bytecode'a çevrilir (Ignition)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02936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04104" y="1234440"/>
            <a:ext cx="1554480" cy="3291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04104" y="1234440"/>
            <a:ext cx="1554480" cy="7315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49824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4DFF">
                    <a:alpha val="70000"/>
                  </a:srgbClr>
                </a:solidFill>
              </a:rPr>
              <a:t>4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5477256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JIT Compiler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77256" y="265176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6"/>
                </a:solidFill>
              </a:rPr>
              <a:t>Sık çalışan kod makine koduna (TurboFan)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12864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4DF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14032" y="1234440"/>
            <a:ext cx="1554480" cy="32918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14032" y="1234440"/>
            <a:ext cx="155448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7159752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CAF50">
                    <a:alpha val="70000"/>
                  </a:srgbClr>
                </a:solidFill>
              </a:rPr>
              <a:t>5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7187184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Execution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87184" y="265176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AF6"/>
                </a:solidFill>
              </a:rPr>
              <a:t>CPU üzerinde çalıştırılır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201168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V8: Google Chrome, Node.js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0" y="4663440"/>
            <a:ext cx="201168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SpiderMonkey: Mozilla Firefox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4663440"/>
            <a:ext cx="201168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JavaScriptCore: Apple Safari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4663440"/>
            <a:ext cx="201168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</a:rPr>
              <a:t>Chakra: Microsoft (eski Edge)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ASENKRON JS'İN EVRİMİ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657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54864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Callback Cehennemi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(~2005-2013)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560320" cy="2651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78308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veri_al(function(x)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islem(x, function(y)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kaydet(y, function(z)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Daha derine...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3657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(ES2015)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37360"/>
            <a:ext cx="2560320" cy="2651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78308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veri_al()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.then(x =&gt; islem(x))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.then(y =&gt; kaydet(y))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.then(z =&gt; sonuc(z))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.catch(err =&gt; hata(err));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36576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97280"/>
            <a:ext cx="274320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async/await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(ES2017)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737360"/>
            <a:ext cx="2560320" cy="2651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178308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isle()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x = await veri_al();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y = await islem(x);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z = await kaydet(y);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z;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8899"/>
                </a:solidFill>
              </a:rPr>
              <a:t>async/await, asenkron kodu sanki senkronmuş gibi yazmanızı sağlar — okunabilirliği çok artırdı.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JS'İN ETKİLEDİĞİ ALANLAR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011680" cy="5486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Web 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HTML/CSS ile birlikte web'in üçlüsü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20116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Web 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Node.js ile sunucu geliştirme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97280"/>
            <a:ext cx="201168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0916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Mobil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React Native, Expo ile iOS/Android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97280"/>
            <a:ext cx="20116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800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Masaüstü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Electron ile VS Code, Slack, Discord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8036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Oyun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Three.js, Phaser ile tarayıcı oyunları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288036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2880360"/>
            <a:ext cx="2011680" cy="54864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56032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1E63"/>
                </a:solidFill>
              </a:rPr>
              <a:t>IoT/Edge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Küçük cihazlarda JS çalıştırma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88036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880360"/>
            <a:ext cx="2011680" cy="5486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70916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Makine Öğrenmesi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TensorFlow.js tarayıcıda ML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2880360"/>
            <a:ext cx="2011680" cy="160020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2880360"/>
            <a:ext cx="20116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85800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Serverless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6"/>
                </a:solidFill>
              </a:rPr>
              <a:t>AWS Lambda, Cloudflare Workers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TC39 VE GELECEKTEKİ ÖZELLİKLER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TC39 Proposal Aşamaları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53035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00200"/>
            <a:ext cx="64008" cy="530352"/>
          </a:xfrm>
          <a:prstGeom prst="rect">
            <a:avLst/>
          </a:prstGeom>
          <a:solidFill>
            <a:srgbClr val="77889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642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8899"/>
                </a:solidFill>
              </a:rPr>
              <a:t>Stage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Strawman — fikir aşaması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4114800" cy="53035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21992"/>
            <a:ext cx="64008" cy="5303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Stage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2313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Proposal — detaylı öneri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43784"/>
            <a:ext cx="4114800" cy="53035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43784"/>
            <a:ext cx="64008" cy="5303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077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Stage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29352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Draft — spesifikasyon taslağı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4114800" cy="53035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465576"/>
            <a:ext cx="64008" cy="53035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295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Stage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35570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Candidate — tarayıcı deniyor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87368"/>
            <a:ext cx="4114800" cy="53035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4087368"/>
            <a:ext cx="64008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513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Stage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6"/>
                </a:solidFill>
              </a:rPr>
              <a:t>Finished — standarda alınacak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Yakında Gelen Özellikler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4023360" cy="56692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1600200"/>
            <a:ext cx="64008" cy="56692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Record &amp; Tuple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Stage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Değiştirilemez veri yapıları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286000"/>
            <a:ext cx="4023360" cy="56692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2286000"/>
            <a:ext cx="64008" cy="56692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Decorators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Stage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Sınıf ve metod süsleyiciler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971800"/>
            <a:ext cx="4023360" cy="56692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2971800"/>
            <a:ext cx="64008" cy="56692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Temporal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Stage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Yeni Date API — çok daha iyi!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57600"/>
            <a:ext cx="4023360" cy="56692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657600"/>
            <a:ext cx="64008" cy="56692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Pattern Matching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Stage 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switch-case'in güçlü versiyonu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343400"/>
            <a:ext cx="4023360" cy="56692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4343400"/>
            <a:ext cx="64008" cy="56692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Type Annotations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4407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Stage 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TS gibi tip ipuçları (çalıştırılmaz)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</a:rPr>
              <a:t>BUGÜN ÖĞRENDİKLERİMİZ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16152"/>
            <a:ext cx="384048" cy="384048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JS 10 günde yazıldı — acele ama zeki tasarım kararları içeriyordu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37944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Tarayıcı savaşları kaosa yol açtı, ECMAScript standardizasyonu kurtardı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86584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59736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59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47802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AJAX ve Google'ın ürünleri JS'i 'önemli bir teknoloji' yaptı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81528"/>
            <a:ext cx="384048" cy="38404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0998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Node.js ile JS sunucuya taşındı, full-stack bir dil oldu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703320"/>
            <a:ext cx="384048" cy="384048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72160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ES6+ ile modern, güçlü ve okunabilir bir dile dönüştü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530352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25112"/>
            <a:ext cx="384048" cy="384048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3434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</a:rPr>
              <a:t>TypeScript, WebAssembly, Deno ile gelecek de parlak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</a:rPr>
              <a:t>KAYNAKLAR VE ÖNERİLEN OKUMALAR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7490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</a:rPr>
              <a:t>📚 Kitaplar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JavaScript: The Good Parts — Douglas Crockford (2008)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Eloquent JavaScript — Marijn Haverbeke (Ücretsiz online)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You Don't Know JS — Kyle Simpson (GitHub'da ücretsiz)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JavaScript: The Definitive Guide — David Flanagan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37490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143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🌐 Web Kaynakları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MDN Web Docs (developer.mozilla.org) — en kapsamlı referans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javascript.info — modern JS rehberi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tc39.es/ecma262 — resmi ECMAScript spesifikasyonu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v8.dev — V8 motoru blog ve gelişmeler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97280"/>
            <a:ext cx="2743200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1143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🎬 İzleme Önerileri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WAT — Gary Bernhardt (JSConf, JS'in gariplikleri)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The Birth &amp; Death of JavaScript — Gary Bernhardt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JavaScript: The First 20 Years — Allen Wirfs-Brock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AF6"/>
                </a:solidFill>
              </a:rPr>
              <a:t>10 Things I Regret About Node.js — Ryan Dahl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-457200"/>
            <a:ext cx="59436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7DF1E">
                    <a:alpha val="10000"/>
                  </a:srgbClr>
                </a:solidFill>
              </a:rPr>
              <a:t>JS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Teşekkürler!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DF1E"/>
                </a:solidFill>
              </a:rPr>
              <a:t>Sorularınızı bekliyorum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743200" cy="45720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899AA"/>
                </a:solidFill>
              </a:rPr>
              <a:t>"Any application that can be written in JavaScript,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899AA"/>
                </a:solidFill>
              </a:rPr>
              <a:t>will eventually be written in JavaScript."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899AA"/>
                </a:solidFill>
              </a:rPr>
              <a:t>— Jeff Atwood (Atwood's Law, 2007)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</a:rPr>
              <a:t>İnternet Programlama · Bilgisayar Mühendisliği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JavaScript: Tarih ve Gelişim</dc:title>
  <dc:subject>PptxGenJS Presentation</dc:subject>
  <dc:creator>İnternet Programlama Dersi</dc:creator>
  <cp:lastModifiedBy>İnternet Programlama Dersi</cp:lastModifiedBy>
  <cp:revision>1</cp:revision>
  <dcterms:created xsi:type="dcterms:W3CDTF">2026-04-08T19:42:57Z</dcterms:created>
  <dcterms:modified xsi:type="dcterms:W3CDTF">2026-04-08T19:42:57Z</dcterms:modified>
</cp:coreProperties>
</file>