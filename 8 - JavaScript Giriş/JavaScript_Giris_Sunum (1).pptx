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JavaScript'e Giriş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Web'in Dilini Anlamak: Tarih, Felsefe ve Çalışma Prensibi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0"/>
            <a:ext cx="1371600" cy="36576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463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Balıkesir Üniversitesi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 Mühendisliği Bölümü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·  CENG 3xx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0" y="6126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135 dakika  ·  3 × 45 dk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AKIŞI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Bugün Ne Öğreneceğiz?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Nedir?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764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Tanım, motivasyon ve web'deki yeri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33272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 dk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Tarihçe ve Evrim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359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Brendan Eich, 10 gün efsanesi, ECMAScript standardı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33272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 dk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651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Motorlar ve Çalışma Prensibi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2953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V8, SpiderMonkey, yorumlama vs derleme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33272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 dk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JavaScript'i Nerede Yazarız?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3547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Konsol, inline, script tag, harici dosya — Uygulamalı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33272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 dk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 Karakteri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4142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 tipleme, prototip, first-class functions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33272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 dk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7160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 ve Asenkron Model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716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 ama non-blocking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332720" y="4526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 dk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37160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ile İlk Etkileşim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371600" y="5330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Butonu tıkla, sayfayı değiştir — Uygulamalı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332720" y="5120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 dk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56692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5669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371600" y="5623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Ekosistem ve Yol Haritası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371600" y="5925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npm ve 14 haftalık planımız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332720" y="5715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 dk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JavaScript'e Giriş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  ·  MOTİVASYON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JavaScript?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03520" cy="4754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BB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 YIL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 üste en çok kullanılan programlama dili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731520" cy="27432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Developer Survey 2013-2024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Tarayıcılarda çalışan tek dil (natively)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 + Backend + Mobile + Desktop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GitHub'daki #1 dil (aktif depo sayısı)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BB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11" name="Text 9"/>
          <p:cNvSpPr/>
          <p:nvPr/>
        </p:nvSpPr>
        <p:spPr>
          <a:xfrm>
            <a:off x="6217920" y="26517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Atwood's Law: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17920" y="32004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 ile yazılabilecek her uygulama, eninde sonunda JavaScript ile yazılacaktır.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0" y="4572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Jeff Atwood, Stack Overflow kurucusu (2007)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5303520"/>
            <a:ext cx="5669280" cy="9144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548640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858000" y="5440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tahminin ötesi: NASA Perseverance Mars görevinde JavaScript tabanlı arayüzler kullandı (2021).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JavaScript'e Giriş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  ·  TANIM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 Nedir?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Resmi tanım: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118872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1188720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yüksek seviyeli, yorumlanan (JIT derlemeli), dinamik tipli, prototip tabanlı, çok paradigmalı (fonksiyonel, imperatif, nesne yönelimli), tek iş parçacıklı (single-threaded) bir programlama dilidir. ECMAScript standardına uygun biçimde tasarlanır.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383280"/>
            <a:ext cx="36576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Yüksek Seviyeli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 yönetimi otomatiktir. Pointer, malloc/free yoktur. Garbage collector çalışır.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51960" y="338328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51960" y="3383280"/>
            <a:ext cx="36576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36576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26280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Dinamik Tipli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52628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 tipleri çalışma zamanında belirlenir. Aynı değişken sırasıyla sayı, string, nesne tutabilir.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046720" y="338328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46720" y="3383280"/>
            <a:ext cx="36576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65760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Çoklu Ortam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32104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Tarayıcıda (frontend), sunucuda (Node.js), mobilde (React Native), masaüstünde (Electron) çalışır.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Önemli: JavaScript ≠ Java. İsim benzerliği pazarlama kaynaklıdır. (İleride detayı var.)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JavaScript'e Giriş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  ·  TARİHÇE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1995: 10 Günlük Bir Dilin Doğuşu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029200" cy="4754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Brendan Eich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Netscape Communications, 1995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3200400"/>
            <a:ext cx="914400" cy="27432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38328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Netscape Navigator'a (ilk popüler tarayıcı) gömülü bir script dili eklemek.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10 gün — çünkü Sun ile Java lisans anlaşması baskısı vardı.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İlham: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(fonksiyonel) + Self (prototip) + Java (sözdizimi görüntüsü)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İsim Evrimi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943600" y="2194560"/>
            <a:ext cx="228600" cy="228600"/>
          </a:xfrm>
          <a:prstGeom prst="ellipse">
            <a:avLst/>
          </a:prstGeom>
          <a:solidFill>
            <a:srgbClr val="FBB13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53328" y="2423160"/>
            <a:ext cx="0" cy="68580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Mocha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Mayıs 1995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09360" y="23957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geliştirme ismi — kahve göndermesi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0" y="3154680"/>
            <a:ext cx="228600" cy="228600"/>
          </a:xfrm>
          <a:prstGeom prst="ellipse">
            <a:avLst/>
          </a:prstGeom>
          <a:solidFill>
            <a:srgbClr val="FBB13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53328" y="3383280"/>
            <a:ext cx="0" cy="68580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LiveScript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4400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Eylül 1995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09360" y="33558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Netscape 2.0 beta sürümünde kullanıldı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943600" y="4114800"/>
            <a:ext cx="228600" cy="228600"/>
          </a:xfrm>
          <a:prstGeom prst="ellipse">
            <a:avLst/>
          </a:prstGeom>
          <a:solidFill>
            <a:srgbClr val="FBB13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53328" y="4343400"/>
            <a:ext cx="0" cy="68580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936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14400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Aralık 1995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309360" y="43159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Java'nın popülerliğinden yararlanmak için — pazarlama kararı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943600" y="5074920"/>
            <a:ext cx="228600" cy="228600"/>
          </a:xfrm>
          <a:prstGeom prst="ellipse">
            <a:avLst/>
          </a:prstGeom>
          <a:solidFill>
            <a:srgbClr val="FBB13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09360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ECMAScript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144000" y="4983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Haziran 1997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309360" y="52760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Standardizasyon ismi (ECMA-262)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JavaScript'e Giriş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  ·  TARİHÇE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Tarayıcı Savaşları ve Standardizasyon İhtiyacı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Her tarayıcı kendi JS lehçesini yazıyordu.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394960" cy="219456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53949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Netscape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(orijinal)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Document.layers API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Kendine özgü olay modeli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window.captureEvents()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5394960" cy="219456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2011680"/>
            <a:ext cx="53949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JScript (1996, reverse engineered)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9260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document.all API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attachEvent()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ActiveX entegrasyonu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11247120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0916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37160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Çözüm: ECMAScript Standardı (Haziran 1997)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371600" y="52120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Ecma International (İsviçre merkezli standart kuruluşu) TC39 komitesi kuruldu.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JavaScript'in dil çekirdeğini bağımsız, resmi bir standart haline getirmek.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 ayrım: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ECMAScript = spesifikasyon  ·  JavaScript = bu spesifikasyonun en popüler uygulaması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JavaScript'e Giriş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  ·  TARİHÇE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ECMAScript Evrimi: Kritik Dönüm Noktaları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286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ES1-ES3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2608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1997-1999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1554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dil. Regex, try/catch eklendi.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228600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0" y="2240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İPTAL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iddialı tasarım. Topluluk böldü, terk edildi.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2286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26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2608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mode, JSON.parse, Array metotları (map, filter, reduce)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2286000" cy="548640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ES6 / ES2015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2608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3611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DEVRİM: let/const, arrow, class, Promise, modül, template literals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2286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97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ES2016+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926080" y="4297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4297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yayın. async/await (ES2017), optional chaining (ES2020)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983480"/>
            <a:ext cx="2286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983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ES2024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926080" y="4983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80560" y="4983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Object.groupBy, Promise.withResolvers, RegExp /v bayrağı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FBB13C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897880"/>
            <a:ext cx="365760" cy="36576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188720" y="58064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(2015) sonrası TC39 "yaşayan standart" modeline geçti: Her yıl Haziran'da yeni sürüm, 4 aşamalı (stage) proposal süreci.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JavaScript'e Giriş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  ·  MOTORLAR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 Motorları: Kodunuz Nasıl Çalışır?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 kodunuz → JS Motoru → Makine kodu → CPU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1247120" cy="10058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73152" cy="1005840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(2008)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Edge, Node.js, Deno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Yazıldığı dil: C++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21488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popüler. Chrome için yazıldı, Node.js ile sunucuya taşındı.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10058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08960"/>
            <a:ext cx="73152" cy="1005840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SpiderMonkey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Mozilla (1995)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3246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3566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Yazıldığı dil: C++, Rust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0" y="32461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JS motoru. Brendan Eich tarafından yazıldı. Hâlâ gelişiyor.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11247120" cy="10058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206240"/>
            <a:ext cx="73152" cy="1005840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297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JavaScriptCore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(2002)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Safari, WebKit tabanlı tarayıcılar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Yazıldığı dil: C++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0" y="43434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 olarak da bilinir. macOS/iOS ekosisteminin temeli.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303520"/>
            <a:ext cx="11247120" cy="10058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303520"/>
            <a:ext cx="73152" cy="1005840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394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Chakra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31520" y="5806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(2008)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0" y="5440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 Edge, Internet Explorer 9+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0" y="5760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Yazıldığı dil: C++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0" y="54406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Edge V8'e geçti (2020). Artık legacy.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JavaScript'e Giriş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  ·  MOTORLAR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 Motor Kodu Nasıl Çalıştırır?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motorlar saf yorumlayıcı değildir — JIT (Just-In-Time) derleme kullanırlar: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74320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148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Parser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kod → AST (soyut sözdizim ağacı)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74320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148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Interpreter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0440" y="2606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→ Bytecode (Ignition modülü V8'de)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2011680"/>
            <a:ext cx="274320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148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Profiler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606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çalışan 'hot' kodu tespit eder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35440" y="2011680"/>
            <a:ext cx="274320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2148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JIT Compiler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72600" y="2606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kodu optimize makine koduna derler (TurboFan)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834640"/>
            <a:ext cx="182880" cy="0"/>
          </a:xfrm>
          <a:prstGeom prst="line">
            <a:avLst/>
          </a:prstGeom>
          <a:noFill/>
          <a:ln w="38100">
            <a:solidFill>
              <a:srgbClr val="FBB13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26480" y="2834640"/>
            <a:ext cx="182880" cy="0"/>
          </a:xfrm>
          <a:prstGeom prst="line">
            <a:avLst/>
          </a:prstGeom>
          <a:noFill/>
          <a:ln w="38100">
            <a:solidFill>
              <a:srgbClr val="FBB13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52560" y="2834640"/>
            <a:ext cx="182880" cy="0"/>
          </a:xfrm>
          <a:prstGeom prst="line">
            <a:avLst/>
          </a:prstGeom>
          <a:noFill/>
          <a:ln w="38100">
            <a:solidFill>
              <a:srgbClr val="FBB13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" y="4023360"/>
            <a:ext cx="11247120" cy="2286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605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"Yorumlanan mı, derlenen mi?" — Artık kesin bir cevap yok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457200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 görüş: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yorumlanan dildir (satır satır okunur).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motorlar önce bytecode üretir, sık çalışan kısımları optimize edilmiş makine koduna derler. Bu yüzden: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İlk çalıştırma: interpretation (hızlı başlangıç)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Tekrarlayan kod: compilation (uzun vadede hızlı)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C++'a yakın performans elde edilebilir (özellikle sayısal kodda)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JavaScript'e Giriş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2763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103120" y="18288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JavaScript'i Nerede Yazarız?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2103120" y="2651760"/>
            <a:ext cx="1371600" cy="36576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03120" y="2788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Kodu nereye yazacağız? Sonucu nasıl göreceğiz?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3931920"/>
            <a:ext cx="2834640" cy="2194560"/>
          </a:xfrm>
          <a:prstGeom prst="rect">
            <a:avLst/>
          </a:prstGeom>
          <a:solidFill>
            <a:srgbClr val="0D1440"/>
          </a:solidFill>
          <a:ln w="25400">
            <a:solidFill>
              <a:srgbClr val="FBB1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4805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5029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Tarayıcı Konsolu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0080" y="5486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→ Console. Anında test.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383280" y="3931920"/>
            <a:ext cx="2834640" cy="2194560"/>
          </a:xfrm>
          <a:prstGeom prst="rect">
            <a:avLst/>
          </a:prstGeom>
          <a:solidFill>
            <a:srgbClr val="0D1440"/>
          </a:solidFill>
          <a:ln w="25400">
            <a:solidFill>
              <a:srgbClr val="FBB13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566160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4805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66160" y="5029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 Inline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566160" y="5486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onclick="..." gibi HTML özniteliği.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309360" y="3931920"/>
            <a:ext cx="2834640" cy="2194560"/>
          </a:xfrm>
          <a:prstGeom prst="rect">
            <a:avLst/>
          </a:prstGeom>
          <a:solidFill>
            <a:srgbClr val="0D1440"/>
          </a:solidFill>
          <a:ln w="25400">
            <a:solidFill>
              <a:srgbClr val="FBB13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492240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48056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92240" y="5029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&lt;script&gt; Tag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492240" y="5486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içine gömülü kod bloğu.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9235440" y="3931920"/>
            <a:ext cx="2834640" cy="2194560"/>
          </a:xfrm>
          <a:prstGeom prst="rect">
            <a:avLst/>
          </a:prstGeom>
          <a:solidFill>
            <a:srgbClr val="0D1440"/>
          </a:solidFill>
          <a:ln w="25400">
            <a:solidFill>
              <a:srgbClr val="FBB13C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9418320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448056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418320" y="5029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Harici .js Dosyası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9418320" y="5486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Profesyonel: script src="app.js"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zamanı → her birini canlı olarak görelim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04  ·  YÖNTEM 1/4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Tarayıcı Konsolu: En Hızlı Başlangıç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Nasıl açarız?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Herhangi bir tarayıcıda bir sayfa aç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F12 tuşuna bas (DevTools açılır)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"Console" sekmesine geç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Kodunuzu yaz, Enter'a bas — anında sonuç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5303520" cy="13716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Kısayollar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2519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Windows/Linux: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F12  veya  Ctrl+Shift+I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Cmd+Option+I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Satır sonu yerine yeni satır: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Shift+Enter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5760720" cy="4663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463040"/>
            <a:ext cx="5760720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60020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60020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0840" y="16002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527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 — example.com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201168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+ 2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console.log("Merhaba, Dünya!")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Merhaba, Dünya!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undefined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ad = "Ahmet"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undefined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`Selam ${ad}!`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"Selam Ahmet!"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JavaScript'e Giriş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04  ·  YÖNTEM 2/4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 Özniteliği (Inline) — Eski Usul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kodunu doğrudan HTML etiketinin içine yazmak.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685800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6583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</a:t>
            </a:r>
            <a:pPr indent="0" marL="0">
              <a:buNone/>
            </a:pPr>
            <a:r>
              <a:rPr lang="en-US" sz="14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onclick=</a:t>
            </a:r>
            <a:pPr indent="0" marL="0">
              <a:buNone/>
            </a:pPr>
            <a:r>
              <a:rPr lang="en-US" sz="14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"alert('Selam!')"</a:t>
            </a:r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Bana Tıkla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&lt;/button&gt;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0" y="1920240"/>
            <a:ext cx="4297680" cy="1417320"/>
          </a:xfrm>
          <a:prstGeom prst="rect">
            <a:avLst/>
          </a:prstGeom>
          <a:solidFill>
            <a:srgbClr val="F7F9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Avantajlar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23317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Hızlı — tek satır kod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Dosya ayırmaya gerek yok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89520" y="3474720"/>
            <a:ext cx="4297680" cy="1417320"/>
          </a:xfrm>
          <a:prstGeom prst="rect">
            <a:avLst/>
          </a:prstGeom>
          <a:solidFill>
            <a:srgbClr val="F7F9FC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3566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Dezavantajlar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38862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 &amp; JS karışır (karmaşa)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Bakım zor, test zor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Kod tekrar kullanılamaz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5212080"/>
            <a:ext cx="73152" cy="1005840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40680"/>
            <a:ext cx="502920" cy="5029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371600" y="5303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pratikte kullanılmaz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71600" y="5669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 (ilgilerin ayrılması) prensibine aykırı. Bilmek gerekir çünkü eski kodlarda karşınıza çıkacaktır; yazmak için tercih edilmez.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JavaScript'e Giriş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04  ·  YÖNTEM 3/4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&lt;script&gt; Tag — Gömülü Kod Bloğu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kodunu HTML dosyasının içinde &lt;script&gt; etiketleri arasına yazmak.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713232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685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&lt;title&gt;İlk JS&lt;/title&gt;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 id="baslik"&gt;Merhaba&lt;/h1&gt;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&lt;script&gt;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simdi = </a:t>
            </a:r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document.getElementById(</a:t>
            </a:r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"baslik"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.textContent = </a:t>
            </a:r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`Saat: ${simdi.toLocaleTimeString()}`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&lt;/script&gt;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0" y="1920240"/>
            <a:ext cx="4114800" cy="1371600"/>
          </a:xfrm>
          <a:prstGeom prst="rect">
            <a:avLst/>
          </a:prstGeom>
          <a:solidFill>
            <a:srgbClr val="F7F9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2011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&lt;script&gt; nerede olmalı?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0" y="2331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Genelde &lt;/body&gt; etiketinden hemen önce. Sebep: HTML önce yüklensin, JS sonra çalışsın.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0" y="3474720"/>
            <a:ext cx="4114800" cy="1280160"/>
          </a:xfrm>
          <a:prstGeom prst="rect">
            <a:avLst/>
          </a:prstGeom>
          <a:solidFill>
            <a:srgbClr val="F7F9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 tane olabilir?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0" y="38862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İstediğiniz kadar. Hepsi aynı global kapsamı paylaşır (module olmadıkça).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0" y="4937760"/>
            <a:ext cx="41148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5029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alanı: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0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demolar, tek sayfalık testler, hızlı prototipler.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JavaScript'e Giriş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04  ·  YÖNTEM 4/4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Harici .js Dosyası — Profesyonel Yöntem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kodu ayrı bir .js dosyasında yaşar, HTML onu &lt;script src="..."&gt; ile yükler.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62356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&lt;h1&gt;JS Örneği&lt;/h1&gt;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id="btn"&gt;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Tıkla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&lt;script </a:t>
            </a:r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src=</a:t>
            </a:r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"app.js"</a:t>
            </a:r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62356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011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6520" y="233172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Butona olay dinleyici ekle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.getElementById(</a:t>
            </a:r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"btn"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.addEventListener(</a:t>
            </a:r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"click"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alert(</a:t>
            </a:r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"Tıklandı!"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3035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Bu Yöntem?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ve yapı ayrımı  </a:t>
            </a:r>
            <a:pPr indent="0" marL="0"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Birden çok sayfada yeniden kullanılabilir  </a:t>
            </a:r>
            <a:pPr indent="0" marL="0"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 önbelleği çalışır  </a:t>
            </a:r>
            <a:pPr indent="0" marL="0"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Versiyon kontrolü kolay  </a:t>
            </a:r>
            <a:pPr indent="0" marL="0"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tool'larla işlenebilir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JavaScript'e Giriş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04  ·  DERİNLEŞME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&lt;script&gt; Öznitelikleri: async, defer, type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yükleme stratejisi sayfanın performansını doğrudan etkiler.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1247120" cy="10058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109728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(senkron)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parse DURUR, script indirilir, çalıştırılır, sonra HTML devam eder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1247120" cy="10058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200400"/>
            <a:ext cx="10972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parse ile PARALEL indirilir, hazır olur olmaz çalışır (parse'ı duraklatır)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11247120" cy="10058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389120"/>
            <a:ext cx="109728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846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parse ile PARALEL indirilir, HTML tamamlandıktan sonra sıralı çalışır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5577840"/>
            <a:ext cx="1124712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6235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src="app.js"&gt;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&lt;!-- senkron --&gt;  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async src="app.js"&gt;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bağımsız scripts --&gt;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defer src="app.js"&gt;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DOM hazır olduğunda, sırayla — önerilen --&gt;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JavaScript'e Giriş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JavaScript'in Karakteri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1371600" cy="36576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017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C/C++ ve Python bildiğiniz için JS sizi bazen rahatsız edecek. Bu bir bug değil, tasarımın bir parçası.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3749040" cy="2103120"/>
          </a:xfrm>
          <a:prstGeom prst="rect">
            <a:avLst/>
          </a:prstGeom>
          <a:solidFill>
            <a:srgbClr val="0D1440"/>
          </a:solidFill>
          <a:ln w="25400">
            <a:solidFill>
              <a:srgbClr val="FBB1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3434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937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Dinamik Tipleme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1520" y="5440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gibi — ama çok daha zayıf kurallar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4114800"/>
            <a:ext cx="3749040" cy="2103120"/>
          </a:xfrm>
          <a:prstGeom prst="rect">
            <a:avLst/>
          </a:prstGeom>
          <a:solidFill>
            <a:srgbClr val="0D1440"/>
          </a:solidFill>
          <a:ln w="25400">
            <a:solidFill>
              <a:srgbClr val="FBB1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43434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4937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Prototip Tabanlı OOP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17720" y="5440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Java/C++ gibi class değil — nesne nesneden türer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4114800"/>
            <a:ext cx="3749040" cy="2103120"/>
          </a:xfrm>
          <a:prstGeom prst="rect">
            <a:avLst/>
          </a:prstGeom>
          <a:solidFill>
            <a:srgbClr val="0D1440"/>
          </a:solidFill>
          <a:ln w="25400">
            <a:solidFill>
              <a:srgbClr val="FBB13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34340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03920" y="4937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Birinci Sınıf Fonksiyonlar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503920" y="5440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 bir değerdir — değişkene atanır, parametre geçer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05  ·  DİL ÖZELLİKLERİ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Dinamik Tipleme ve Tip Zorlaması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66928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JavaScript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number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"merhaba"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</a:t>
            </a:r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artık string!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3]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</a:t>
            </a:r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artık array!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{ ad: </a:t>
            </a:r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"Ali"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};</a:t>
            </a:r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object!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 x</a:t>
            </a:r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=&gt; "object"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57784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554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18745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"merhaba"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pPr indent="0" marL="0">
              <a:buNone/>
            </a:pPr>
            <a:r>
              <a:rPr lang="en-US" sz="1300" b="1" i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DERLEME HATASI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Tip derleme zamanında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kesinleşir, değiştirilemez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</a:t>
            </a:r>
            <a:pPr indent="0" marL="0">
              <a:buNone/>
            </a:pPr>
            <a:r>
              <a:rPr lang="en-US" sz="1300" i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statik tipleme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11430000" cy="2286000"/>
          </a:xfrm>
          <a:prstGeom prst="rect">
            <a:avLst/>
          </a:prstGeom>
          <a:solidFill>
            <a:srgbClr val="F7F9FC"/>
          </a:solidFill>
          <a:ln w="25400">
            <a:solidFill>
              <a:srgbClr val="FBB1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 Zorlaması (Type Coercion) — JavaScript'in tuzakları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10972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"2"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"12"</a:t>
            </a:r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(string birleştirme)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"5" - 2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(sayısal çıkarma)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+ true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(boolean → 1)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== false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(hadi buna da bir açıklama!)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zaman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(strict equality) kullanın, asla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değil.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JavaScript'e Giriş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05  ·  DİL ÖZELLİKLERİ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Birinci Sınıf Fonksiyonlar ve Prototipler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6692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Birinci Sınıf Fonksiyonlar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66928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Fonksiyon bir değerdir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selamla = </a:t>
            </a:r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(ad) =&gt; </a:t>
            </a:r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`Selam ${ad}`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Değişkene atanabilir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selamla;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Parametre geçebilir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[1,2,3].map(</a:t>
            </a:r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=&gt; x*2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Geri döndürülebilir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yap() { </a:t>
            </a:r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=&gt; 42; 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5778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463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Prototip Tabanlı OOP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5577840" cy="246888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1168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Java/C++: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→ instance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nesne → nesne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nesne bir prototip zincirine (__proto__) sahiptir. Özellik aranırken önce nesnenin kendisine, yoksa prototipine, sonra onun prototipine... bakılır.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ES6'dan itibaren class sözdizimi var — ama altta yine prototip mekanizması çalışır. Syntactic sugar.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 vs Diğer Diller — Hızlı Karşılaştırma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02920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286000"/>
                <a:gridCol w="2286000"/>
                <a:gridCol w="2286000"/>
                <a:gridCol w="2286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Tipleme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Dinamik, zayıf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Dinamik, güçlü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Statik, güçlü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Statik, güçlü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OOP modeli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Prototip (class sugar)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(saf)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(çoklu kalıtım)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Çalıştırma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JIT + yorumlama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Yorumlama (CPython)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JVM bytecode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Derleme (native)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 otomatik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 otomatik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 otomatik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Manuel (RAII)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JavaScript'e Giriş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06  ·  ASENKRON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Loop: Tek İş Parçacığı, Çoklu Görev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single-threaded'dır. Peki Facebook nasıl aynı anda feed yüklüyor, mesaj gösteriyor, bildirim alıyor?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743200" cy="3017520"/>
          </a:xfrm>
          <a:prstGeom prst="rect">
            <a:avLst/>
          </a:prstGeom>
          <a:solidFill>
            <a:srgbClr val="F7F9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Stack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2194560" cy="365760"/>
          </a:xfrm>
          <a:prstGeom prst="rect">
            <a:avLst/>
          </a:prstGeom>
          <a:solidFill>
            <a:srgbClr val="FBB13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480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4023360"/>
            <a:ext cx="2194560" cy="3657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LIFO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2011680"/>
            <a:ext cx="2743200" cy="3017520"/>
          </a:xfrm>
          <a:prstGeom prst="rect">
            <a:avLst/>
          </a:prstGeom>
          <a:solidFill>
            <a:srgbClr val="F7F9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 tarafından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0" y="283464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</a:t>
            </a:r>
            <a:endParaRPr lang="en-US" sz="12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 / XHR</a:t>
            </a:r>
            <a:endParaRPr lang="en-US" sz="12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 events</a:t>
            </a:r>
            <a:endParaRPr lang="en-US" sz="12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setInterval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2011680"/>
            <a:ext cx="2743200" cy="3017520"/>
          </a:xfrm>
          <a:prstGeom prst="rect">
            <a:avLst/>
          </a:prstGeom>
          <a:solidFill>
            <a:srgbClr val="F7F9FC"/>
          </a:solidFill>
          <a:ln w="25400">
            <a:solidFill>
              <a:srgbClr val="FBB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Queue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kuyruğu (FIFO)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3760" y="2926080"/>
            <a:ext cx="2194560" cy="365760"/>
          </a:xfrm>
          <a:prstGeom prst="rect">
            <a:avLst/>
          </a:prstGeom>
          <a:solidFill>
            <a:srgbClr val="FBB13C">
              <a:alpha val="8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 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23760" y="3383280"/>
            <a:ext cx="2194560" cy="365760"/>
          </a:xfrm>
          <a:prstGeom prst="rect">
            <a:avLst/>
          </a:prstGeom>
          <a:solidFill>
            <a:srgbClr val="FBB13C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 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23760" y="3840480"/>
            <a:ext cx="2194560" cy="365760"/>
          </a:xfrm>
          <a:prstGeom prst="rect">
            <a:avLst/>
          </a:prstGeom>
          <a:solidFill>
            <a:srgbClr val="FBB13C">
              <a:alpha val="4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058400" y="2560320"/>
            <a:ext cx="1645920" cy="2011680"/>
          </a:xfrm>
          <a:prstGeom prst="ellipse">
            <a:avLst/>
          </a:prstGeom>
          <a:solidFill>
            <a:srgbClr val="1E2761">
              <a:alpha val="20000"/>
            </a:srgbClr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0" y="3200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B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457200" y="5394960"/>
            <a:ext cx="1124712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440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Loop'un görevi: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 boş olduğunda, Task Queue'dan bir görevi alıp Call Stack'e koymak. Sürekli döner, asla durmaz.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JavaScript'e Giriş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06  ·  ASENKRON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Klasik Soru: Bu kodun çıktısı nedir?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66928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5486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</a:t>
            </a:r>
            <a:pPr indent="0" marL="0">
              <a:buNone/>
            </a:pPr>
            <a:r>
              <a:rPr lang="en-US" sz="16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setTimeout(() =&gt;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</a:t>
            </a:r>
            <a:pPr indent="0" marL="0">
              <a:buNone/>
            </a:pPr>
            <a:r>
              <a:rPr lang="en-US" sz="16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"2"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</a:t>
            </a:r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</a:t>
            </a:r>
            <a:pPr indent="0" marL="0">
              <a:buNone/>
            </a:pPr>
            <a:r>
              <a:rPr lang="en-US" sz="16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"3"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463040"/>
            <a:ext cx="5577840" cy="1280160"/>
          </a:xfrm>
          <a:prstGeom prst="rect">
            <a:avLst/>
          </a:prstGeom>
          <a:solidFill>
            <a:srgbClr val="F7F9FC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Beklenen (C/Python mantığı):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1920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2, 3   —   satır sıralaması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(setTimeout 0 ms, hemen çalışmalı değil mi?)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926080"/>
            <a:ext cx="5577840" cy="1280160"/>
          </a:xfrm>
          <a:prstGeom prst="rect">
            <a:avLst/>
          </a:prstGeom>
          <a:solidFill>
            <a:srgbClr val="F7F9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017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Gerçek çıktı: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3383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3, 2   —   async kuyruk!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3794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setTimeout her zaman Task Queue'a gider.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1124712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böyle?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8463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1: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console.log("1") senkron çalışır → 1 yazdırılır.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2: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setTimeout çağrısı Web APIs'e iletilir, 0 ms beklenir, callback Task Queue'a eklenir.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3: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console.log("3") senkron çalışır → 3 yazdırılır. Call Stack boşalır.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4: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 Task Queue'dan callback'i alır, çalıştırır → 2 yazdırılır.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JavaScript'e Giriş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2763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07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103120" y="18288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 ile İlk Etkileşim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2103120" y="2651760"/>
            <a:ext cx="1371600" cy="36576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03120" y="2788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Butona tıkla, sayfayı değiştir — canlı kodlama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3657600"/>
            <a:ext cx="5303520" cy="2560320"/>
          </a:xfrm>
          <a:prstGeom prst="rect">
            <a:avLst/>
          </a:prstGeom>
          <a:solidFill>
            <a:srgbClr val="0D1440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 nedir?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41605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Object Model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 HTML'i parse eder ve bellekte bir ağaç yapısı oluşturur. JavaScript bu ağaca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objesi üzerinden erişir ve değiştirebilir.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= statik metin  ·  DOM = canlı, programlanabilir yapı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3657600"/>
            <a:ext cx="5394960" cy="2560320"/>
          </a:xfrm>
          <a:prstGeom prst="rect">
            <a:avLst/>
          </a:prstGeom>
          <a:solidFill>
            <a:srgbClr val="0D1440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Temel API'ler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92240" y="416052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document.querySelector(sel)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94A3B8"/>
                </a:solidFill>
              </a:rPr>
              <a:t>  CSS seçici ile eleman bul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element.textContent = "..."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94A3B8"/>
                </a:solidFill>
              </a:rPr>
              <a:t>  Metin içeriğini değiştir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element.style.color = "red"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94A3B8"/>
                </a:solidFill>
              </a:rPr>
              <a:t>  CSS özelliklerini değiştir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element.addEventListener(...)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94A3B8"/>
                </a:solidFill>
              </a:rPr>
              <a:t>  Olay dinleyici ekle (tıklama vb.)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07  ·  UYGULAMA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 Örnek: Renk Değiştiren Buton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68580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65836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&lt;html&gt;&lt;body&gt;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 id="baslik"&gt;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 renk seç&lt;/h1&gt;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id="kirmizi"&gt;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Kırmızı&lt;/button&gt;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id="mavi"&gt;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Mavi&lt;/button&gt;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&lt;script&gt;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h =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.querySelector(</a:t>
            </a:r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"#baslik"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.getElementById(</a:t>
            </a:r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"kirmizi"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.addEventListener(</a:t>
            </a:r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"click"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h.style.color = </a:t>
            </a:r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"red"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h.textContent = </a:t>
            </a:r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"Kırmızı!"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&lt;/script&gt;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&lt;/body&gt;&lt;/html&gt;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0" y="1554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(tarayıcıda):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0" y="1920240"/>
            <a:ext cx="43891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920240"/>
            <a:ext cx="438912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1993392"/>
            <a:ext cx="137160" cy="1371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0" y="1993392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1993392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2468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Kırmızı!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7772400" y="3291840"/>
            <a:ext cx="128016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3291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Kırmızı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35440" y="3291840"/>
            <a:ext cx="128016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3291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3931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(Butona tıklanınca başlık kırmızı)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589520" y="4846320"/>
            <a:ext cx="4389120" cy="1371600"/>
          </a:xfrm>
          <a:prstGeom prst="rect">
            <a:avLst/>
          </a:prstGeom>
          <a:solidFill>
            <a:srgbClr val="F7F9F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4937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kavram bir arada: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52578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Seçme (query)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Olay dinleme (event)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Değiştirme (manipulation)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JavaScript'e Giriş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08  ·  EKOSİSTEM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Tarayıcıdan Çıkış: Node.js ve npm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2009'a kadar JS yalnızca tarayıcıda çalışıyordu. Sonra Ryan Dahl, V8 motorunu tarayıcıdan söküp sunucuya taşıdı.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669280" cy="2103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7160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2009, Ryan Dahl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310896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Sunucu tarafında JS çalıştırır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V8 motoru + dosya sistemi + ağ API'si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API, websocket, CLI tool geliştirme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2103120"/>
            <a:ext cx="5577840" cy="2103120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92240" y="2743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Package Manager — dünyanın en büyük paket deposu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92240" y="310896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2+ milyon paket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Haftada 250 milyar+ indirme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D1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react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komutu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Ekosistem — Tanışmanız Gereken İsimler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57200" y="4937760"/>
            <a:ext cx="2834640" cy="13716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4937760"/>
            <a:ext cx="2834640" cy="73152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5029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Framework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4360" y="53492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React (Meta)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Vue.js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Angular (Google)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Svelte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383280" y="4937760"/>
            <a:ext cx="2834640" cy="13716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83280" y="4937760"/>
            <a:ext cx="2834640" cy="73152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20440" y="5029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520440" y="53492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Express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NestJS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Fastify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Deno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309360" y="4937760"/>
            <a:ext cx="2834640" cy="13716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09360" y="4937760"/>
            <a:ext cx="2834640" cy="73152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46520" y="5029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46520" y="53492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Vite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Webpack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esbuild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Rollup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235440" y="4937760"/>
            <a:ext cx="2834640" cy="13716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235440" y="4937760"/>
            <a:ext cx="2834640" cy="73152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372600" y="5029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372600" y="53492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JS'e tip sistemi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Microsoft, 2012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Büyük projelerin standardı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%80 yeni proje kullanıyor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JavaScript'e Giriş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08  ·  YOL HARİTASI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Haftalık Plan: Buradan Nereye Gidiyoruz?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794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64008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6276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Temelleri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90195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İnternet çalışması (TAMAMLANDI)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79476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554480"/>
            <a:ext cx="640080" cy="777240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5544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16276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JS'e Giriş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190195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— tarih, motor, çalışma prensibi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29600" y="1554480"/>
            <a:ext cx="3794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554480"/>
            <a:ext cx="6400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5544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0" y="16276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Temelleri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0" y="190195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Değişkenler, veri tipleri, operatörler, kontrol yapıları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423160"/>
            <a:ext cx="3794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423160"/>
            <a:ext cx="6400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4231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24963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Fonksiyonlar &amp; Kapsam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27706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Arrow, closure, hoisting, this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43400" y="2423160"/>
            <a:ext cx="3794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2423160"/>
            <a:ext cx="6400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24231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4920" y="24963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Nesneler &amp; Diziler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27706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Object, Array, destructuring, spread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229600" y="2423160"/>
            <a:ext cx="3794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2423160"/>
            <a:ext cx="6400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24231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61120" y="24963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Derinlemesine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61120" y="27706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Query, manipulation, events, forms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291840"/>
            <a:ext cx="3794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291840"/>
            <a:ext cx="6400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2918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88720" y="336499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Asenkron JS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88720" y="363931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Promise, async/await, fetch, error handling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343400" y="3291840"/>
            <a:ext cx="3794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43400" y="3291840"/>
            <a:ext cx="6400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3400" y="32918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74920" y="336499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Modüller &amp; Build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74920" y="363931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modules, npm, Vite/Webpack tanıtımı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229600" y="3291840"/>
            <a:ext cx="3794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29600" y="3291840"/>
            <a:ext cx="6400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0" y="32918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961120" y="336499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API'ler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961120" y="363931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LocalStorage, fetch ile REST tüketimi, JSON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4160520"/>
            <a:ext cx="3794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4160520"/>
            <a:ext cx="6400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16052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188720" y="42336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Giriş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188720" y="45079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temelleri: component, state, props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343400" y="4160520"/>
            <a:ext cx="3794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43400" y="4160520"/>
            <a:ext cx="6400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43400" y="416052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074920" y="42336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&amp; Sunum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074920" y="45079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 projeleri, deployment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JavaScript'e Giriş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KAPANIŞ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Bugün Ne Öğrendik?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623560" cy="73152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JavaScript'in Doğuşu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920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Brendan Eich, Netscape, 10 gün, ECMAScript standardı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623560" cy="73152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691640"/>
            <a:ext cx="457200" cy="45720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49440" y="16459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Motorlar ve Çalışma Prensibi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1920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V8, SpiderMonkey — JIT derleme, AST, bytecode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5623560" cy="73152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4688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JS'i Çalıştırma Yolları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27432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Konsol, inline, &lt;script&gt;, harici .js — async/defer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2377440"/>
            <a:ext cx="5623560" cy="73152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514600"/>
            <a:ext cx="457200" cy="45720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49440" y="24688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 Karakteri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27432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 tipleme, prototip OOP, first-class fonksiyonlar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5623560" cy="73152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34440" y="32918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35661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 + Call Stack + Task Queue + Web APIs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3200400"/>
            <a:ext cx="5623560" cy="73152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3337560"/>
            <a:ext cx="457200" cy="45720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0" y="32918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ile Etkileşim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9440" y="35661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querySelector, addEventListener, textContent, style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23360"/>
            <a:ext cx="5623560" cy="73152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34440" y="41148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Ekosistem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34440" y="43891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npm, React/Vue/Angular, TypeScript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5212080"/>
            <a:ext cx="109728" cy="1005840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2852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önemli kavram: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31520" y="5623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JavaScript, tarayıcıyla sıkı fıkı yaşayan, asenkron doğası olan, dinamik ve çok paradigmalı bir dildir. C/C++ ile aynı görünür ama farklı düşünür.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JavaScript'e Giriş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10058400" y="41148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BB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Sorular &amp; Tartışma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394960" y="4389120"/>
            <a:ext cx="1371600" cy="36576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hafta: Değişkenler, veri tipleri, operatörler ve kontrol yapıları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most important thing about a program is that it works." — Brendan Eich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JavaScript'e Giriş</dc:title>
  <dc:subject>PptxGenJS Presentation</dc:subject>
  <dc:creator>Balıkesir Üniversitesi - Bilgisayar Mühendisliği</dc:creator>
  <cp:lastModifiedBy>Balıkesir Üniversitesi - Bilgisayar Mühendisliği</cp:lastModifiedBy>
  <cp:revision>1</cp:revision>
  <dcterms:created xsi:type="dcterms:W3CDTF">2026-04-18T05:05:13Z</dcterms:created>
  <dcterms:modified xsi:type="dcterms:W3CDTF">2026-04-18T05:05:13Z</dcterms:modified>
</cp:coreProperties>
</file>